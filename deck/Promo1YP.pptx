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00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00" Type="http://schemas.openxmlformats.org/officeDocument/2006/relationships/slideMaster" Target="slideMasters/slideMaster1.xml"/><Relationship Id="rId100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2" name="rule"/>
          <p:cNvSpPr/>
          <p:nvPr/>
        </p:nvSpPr>
        <p:spPr>
          <a:xfrm>
            <a:off x="0" y="2331720"/>
            <a:ext cx="12192000" cy="5486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3" name="t"/>
          <p:cNvSpPr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spc="400" dirty="0">
                <a:solidFill>
                  <a:srgbClr val="E2A72E"/>
                </a:solidFill>
                <a:latin typeface="+mn-lt"/>
              </a:rPr>
              <a:t>PROMO 1YP</a:t>
            </a:r>
          </a:p>
        </p:txBody>
      </p:sp>
      <p:sp>
        <p:nvSpPr>
          <p:cNvPr id="4" name="t2"/>
          <p:cNvSpPr/>
          <p:nvPr/>
        </p:nvSpPr>
        <p:spPr>
          <a:xfrm>
            <a:off x="786384" y="178308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4800" b="1" dirty="0">
                <a:solidFill>
                  <a:srgbClr val="F7F2E7"/>
                </a:solidFill>
                <a:latin typeface="+mn-lt"/>
              </a:rPr>
              <a:t>Wholesale Pricing Planner</a:t>
            </a:r>
          </a:p>
        </p:txBody>
      </p:sp>
      <p:sp>
        <p:nvSpPr>
          <p:cNvPr id="5" name="t3"/>
          <p:cNvSpPr/>
          <p:nvPr/>
        </p:nvSpPr>
        <p:spPr>
          <a:xfrm>
            <a:off x="822960" y="25146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700" dirty="0">
                <a:solidFill>
                  <a:srgbClr val="B9B199"/>
                </a:solidFill>
                <a:latin typeface="+mn-lt"/>
              </a:rPr>
              <a:t>Plan 52 weeks of promotional pricing across every wholesaler, brand and pack — fast, governed, and multi-user.</a:t>
            </a:r>
          </a:p>
        </p:txBody>
      </p:sp>
      <p:sp>
        <p:nvSpPr>
          <p:cNvPr id="6" name="chip"/>
          <p:cNvSpPr/>
          <p:nvPr/>
        </p:nvSpPr>
        <p:spPr>
          <a:xfrm>
            <a:off x="822960" y="3840480"/>
            <a:ext cx="237744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Databricks Apps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React + FastAPI front end</a:t>
            </a:r>
          </a:p>
        </p:txBody>
      </p:sp>
      <p:sp>
        <p:nvSpPr>
          <p:cNvPr id="7" name="chip"/>
          <p:cNvSpPr/>
          <p:nvPr/>
        </p:nvSpPr>
        <p:spPr>
          <a:xfrm>
            <a:off x="3429000" y="3840480"/>
            <a:ext cx="237744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Lakebase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instant edit sandbox</a:t>
            </a:r>
          </a:p>
        </p:txBody>
      </p:sp>
      <p:sp>
        <p:nvSpPr>
          <p:cNvPr id="8" name="chip"/>
          <p:cNvSpPr/>
          <p:nvPr/>
        </p:nvSpPr>
        <p:spPr>
          <a:xfrm>
            <a:off x="6035040" y="3840480"/>
            <a:ext cx="237744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Unity Catalog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governed source of truth</a:t>
            </a:r>
          </a:p>
        </p:txBody>
      </p:sp>
      <p:sp>
        <p:nvSpPr>
          <p:cNvPr id="9" name="chip"/>
          <p:cNvSpPr/>
          <p:nvPr/>
        </p:nvSpPr>
        <p:spPr>
          <a:xfrm>
            <a:off x="8641080" y="3840480"/>
            <a:ext cx="182880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C8102E"/>
                </a:solidFill>
                <a:latin typeface="+mn-lt"/>
              </a:rPr>
              <a:t>Genie-ready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governed semantics</a:t>
            </a:r>
          </a:p>
        </p:txBody>
      </p:sp>
      <p:sp>
        <p:nvSpPr>
          <p:cNvPr id="10" name="tag"/>
          <p:cNvSpPr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i="1" dirty="0">
                <a:solidFill>
                  <a:srgbClr val="857D66"/>
                </a:solidFill>
                <a:latin typeface="+mn-lt"/>
              </a:rPr>
              <a:t>Replacing a slow Sigma / Palantir workflow — performance first.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11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12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THE PROBLEM</a:t>
            </a:r>
          </a:p>
        </p:txBody>
      </p:sp>
      <p:sp>
        <p:nvSpPr>
          <p:cNvPr id="13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Revenue management pricing had outgrown its tools</a:t>
            </a:r>
          </a:p>
        </p:txBody>
      </p:sp>
      <p:sp>
        <p:nvSpPr>
          <p:cNvPr id="14" name="card"/>
          <p:cNvSpPr/>
          <p:nvPr/>
        </p:nvSpPr>
        <p:spPr>
          <a:xfrm>
            <a:off x="603504" y="2148840"/>
            <a:ext cx="3383280" cy="356616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Scale</a:t>
            </a:r>
          </a:p>
          <a:p>
            <a:pPr algn="l" lvl="0" marL="0" indent="0">
              <a:spcBef>
                <a:spcPts val="500"/>
              </a:spcBef>
              <a:buClr>
                <a:srgbClr val="E2A72E"/>
              </a:buClr>
              <a:buSzPct val="90000"/>
              <a:buNone/>
            </a:pPr>
            <a:r>
              <a:rPr lang="en-US" sz="3000" b="1" dirty="0">
                <a:solidFill>
                  <a:srgbClr val="F7F2E7"/>
                </a:solidFill>
                <a:latin typeface="+mn-lt"/>
              </a:rPr>
              <a:t>1.2M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~1.2M SKU lines (wholesaler × brand × pack)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52 ISO weeks per line, promos span multiple weeks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30–50 commercial directors editing concurrently</a:t>
            </a:r>
          </a:p>
        </p:txBody>
      </p:sp>
      <p:sp>
        <p:nvSpPr>
          <p:cNvPr id="15" name="card"/>
          <p:cNvSpPr/>
          <p:nvPr/>
        </p:nvSpPr>
        <p:spPr>
          <a:xfrm>
            <a:off x="4114800" y="2148840"/>
            <a:ext cx="3383280" cy="356616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C8102E"/>
                </a:solidFill>
                <a:latin typeface="+mn-lt"/>
              </a:rPr>
              <a:t>Pain today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Sigma row-level edits are slow &amp; expensive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Palantir is performant but siloed from DBX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Slow tools push planners back to Excel</a:t>
            </a:r>
          </a:p>
        </p:txBody>
      </p:sp>
      <p:sp>
        <p:nvSpPr>
          <p:cNvPr id="16" name="card"/>
          <p:cNvSpPr/>
          <p:nvPr/>
        </p:nvSpPr>
        <p:spPr>
          <a:xfrm>
            <a:off x="7626096" y="2148840"/>
            <a:ext cx="3200400" cy="356616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The ask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Low latency at full scale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Sandbox edits → submit → CSO approval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API hand-off to Pricing Hub; scale to zero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Runs ~6 weeks/year (Aug–Sep planning)</a:t>
            </a:r>
          </a:p>
        </p:txBody>
      </p:sp>
      <p:sp>
        <p:nvSpPr>
          <p:cNvPr id="17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18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19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20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THE APP</a:t>
            </a:r>
          </a:p>
        </p:txBody>
      </p:sp>
      <p:sp>
        <p:nvSpPr>
          <p:cNvPr id="21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A calendarized pricing workspace on Databricks</a:t>
            </a:r>
          </a:p>
        </p:txBody>
      </p:sp>
      <p:sp>
        <p:nvSpPr>
          <p:cNvPr id="22" name="card"/>
          <p:cNvSpPr/>
          <p:nvPr/>
        </p:nvSpPr>
        <p:spPr>
          <a:xfrm>
            <a:off x="603504" y="2148840"/>
            <a:ext cx="5120640" cy="356616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What planners do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Edit weekly REC PPTR / discounts in a 52-week grid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Filter by wholesaler (multi-select), brand, PRC group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Mass-apply discounts to selected rows or the whole filter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Regional coordinators review rows before submission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Always-on budget bar rolls up the filtered set</a:t>
            </a:r>
          </a:p>
        </p:txBody>
      </p:sp>
      <p:sp>
        <p:nvSpPr>
          <p:cNvPr id="23" name="card"/>
          <p:cNvSpPr/>
          <p:nvPr/>
        </p:nvSpPr>
        <p:spPr>
          <a:xfrm>
            <a:off x="5852160" y="2148840"/>
            <a:ext cx="4983480" cy="356616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Why it lands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Virtualized grid stays fast over ~400K+ lines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Edits are instant — written to Lakebase, not the warehouse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Governed: Unity Catalog is the single source of truth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Everything explainable — no black box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Same team, same budget, better decisions</a:t>
            </a:r>
          </a:p>
        </p:txBody>
      </p:sp>
      <p:sp>
        <p:nvSpPr>
          <p:cNvPr id="24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25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40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41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WORKFLOW</a:t>
            </a:r>
          </a:p>
        </p:txBody>
      </p:sp>
      <p:sp>
        <p:nvSpPr>
          <p:cNvPr id="42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Three plan stages, one fast edit loop</a:t>
            </a:r>
          </a:p>
        </p:txBody>
      </p:sp>
      <p:sp>
        <p:nvSpPr>
          <p:cNvPr id="43" name="l1"/>
          <p:cNvSpPr/>
          <p:nvPr/>
        </p:nvSpPr>
        <p:spPr>
          <a:xfrm>
            <a:off x="822960" y="2057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100" b="1" spc="200" dirty="0">
                <a:solidFill>
                  <a:srgbClr val="857D66"/>
                </a:solidFill>
                <a:latin typeface="+mn-lt"/>
              </a:rPr>
              <a:t>TABS</a:t>
            </a:r>
          </a:p>
        </p:txBody>
      </p:sp>
      <p:sp>
        <p:nvSpPr>
          <p:cNvPr id="44" name="l2"/>
          <p:cNvSpPr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100" b="1" spc="200" dirty="0">
                <a:solidFill>
                  <a:srgbClr val="857D66"/>
                </a:solidFill>
                <a:latin typeface="+mn-lt"/>
              </a:rPr>
              <a:t>EDIT LIFECYCLE (all Lakebase-first)</a:t>
            </a:r>
          </a:p>
        </p:txBody>
      </p:sp>
      <p:sp>
        <p:nvSpPr>
          <p:cNvPr id="26" name="chip"/>
          <p:cNvSpPr/>
          <p:nvPr/>
        </p:nvSpPr>
        <p:spPr>
          <a:xfrm>
            <a:off x="822960" y="2377440"/>
            <a:ext cx="274320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2026 Promotions Ran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committed history</a:t>
            </a:r>
          </a:p>
        </p:txBody>
      </p:sp>
      <p:sp>
        <p:nvSpPr>
          <p:cNvPr id="27" name="arr"/>
          <p:cNvSpPr/>
          <p:nvPr/>
        </p:nvSpPr>
        <p:spPr>
          <a:xfrm>
            <a:off x="356616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2400" b="1" dirty="0">
                <a:solidFill>
                  <a:srgbClr val="E2A72E"/>
                </a:solidFill>
                <a:latin typeface="+mn-lt"/>
              </a:rPr>
              <a:t>→</a:t>
            </a:r>
          </a:p>
        </p:txBody>
      </p:sp>
      <p:sp>
        <p:nvSpPr>
          <p:cNvPr id="28" name="chip"/>
          <p:cNvSpPr/>
          <p:nvPr/>
        </p:nvSpPr>
        <p:spPr>
          <a:xfrm>
            <a:off x="4069080" y="2377440"/>
            <a:ext cx="274320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2027 Plan Builder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editable sandbox</a:t>
            </a:r>
          </a:p>
        </p:txBody>
      </p:sp>
      <p:sp>
        <p:nvSpPr>
          <p:cNvPr id="29" name="arr"/>
          <p:cNvSpPr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2400" b="1" dirty="0">
                <a:solidFill>
                  <a:srgbClr val="E2A72E"/>
                </a:solidFill>
                <a:latin typeface="+mn-lt"/>
              </a:rPr>
              <a:t>→</a:t>
            </a:r>
          </a:p>
        </p:txBody>
      </p:sp>
      <p:sp>
        <p:nvSpPr>
          <p:cNvPr id="30" name="chip"/>
          <p:cNvSpPr/>
          <p:nvPr/>
        </p:nvSpPr>
        <p:spPr>
          <a:xfrm>
            <a:off x="7315200" y="2377440"/>
            <a:ext cx="274320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Final Plan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CSO-approved</a:t>
            </a:r>
          </a:p>
        </p:txBody>
      </p:sp>
      <p:sp>
        <p:nvSpPr>
          <p:cNvPr id="31" name="chip"/>
          <p:cNvSpPr/>
          <p:nvPr/>
        </p:nvSpPr>
        <p:spPr>
          <a:xfrm>
            <a:off x="658368" y="4114800"/>
            <a:ext cx="1874519" cy="91440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Edit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Lakebase draft — instant</a:t>
            </a:r>
          </a:p>
        </p:txBody>
      </p:sp>
      <p:sp>
        <p:nvSpPr>
          <p:cNvPr id="32" name="arr"/>
          <p:cNvSpPr/>
          <p:nvPr/>
        </p:nvSpPr>
        <p:spPr>
          <a:xfrm>
            <a:off x="2505455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2400" b="1" dirty="0">
                <a:solidFill>
                  <a:srgbClr val="E2A72E"/>
                </a:solidFill>
                <a:latin typeface="+mn-lt"/>
              </a:rPr>
              <a:t>→</a:t>
            </a:r>
          </a:p>
        </p:txBody>
      </p:sp>
      <p:sp>
        <p:nvSpPr>
          <p:cNvPr id="33" name="chip"/>
          <p:cNvSpPr/>
          <p:nvPr/>
        </p:nvSpPr>
        <p:spPr>
          <a:xfrm>
            <a:off x="2916935" y="4114800"/>
            <a:ext cx="1874519" cy="91440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Submit for Review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draft → pending</a:t>
            </a:r>
          </a:p>
        </p:txBody>
      </p:sp>
      <p:sp>
        <p:nvSpPr>
          <p:cNvPr id="34" name="arr"/>
          <p:cNvSpPr/>
          <p:nvPr/>
        </p:nvSpPr>
        <p:spPr>
          <a:xfrm>
            <a:off x="4764022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2400" b="1" dirty="0">
                <a:solidFill>
                  <a:srgbClr val="E2A72E"/>
                </a:solidFill>
                <a:latin typeface="+mn-lt"/>
              </a:rPr>
              <a:t>→</a:t>
            </a:r>
          </a:p>
        </p:txBody>
      </p:sp>
      <p:sp>
        <p:nvSpPr>
          <p:cNvPr id="35" name="chip"/>
          <p:cNvSpPr/>
          <p:nvPr/>
        </p:nvSpPr>
        <p:spPr>
          <a:xfrm>
            <a:off x="5175502" y="4114800"/>
            <a:ext cx="1874519" cy="91440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Final Submission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pending → approved</a:t>
            </a:r>
          </a:p>
        </p:txBody>
      </p:sp>
      <p:sp>
        <p:nvSpPr>
          <p:cNvPr id="36" name="arr"/>
          <p:cNvSpPr/>
          <p:nvPr/>
        </p:nvSpPr>
        <p:spPr>
          <a:xfrm>
            <a:off x="7022589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2400" b="1" dirty="0">
                <a:solidFill>
                  <a:srgbClr val="E2A72E"/>
                </a:solidFill>
                <a:latin typeface="+mn-lt"/>
              </a:rPr>
              <a:t>→</a:t>
            </a:r>
          </a:p>
        </p:txBody>
      </p:sp>
      <p:sp>
        <p:nvSpPr>
          <p:cNvPr id="37" name="chip"/>
          <p:cNvSpPr/>
          <p:nvPr/>
        </p:nvSpPr>
        <p:spPr>
          <a:xfrm>
            <a:off x="7434069" y="4114800"/>
            <a:ext cx="1874519" cy="91440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Sync to UC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flush to governed table</a:t>
            </a:r>
          </a:p>
        </p:txBody>
      </p:sp>
      <p:sp>
        <p:nvSpPr>
          <p:cNvPr id="38" name="arr"/>
          <p:cNvSpPr/>
          <p:nvPr/>
        </p:nvSpPr>
        <p:spPr>
          <a:xfrm>
            <a:off x="9281156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2400" b="1" dirty="0">
                <a:solidFill>
                  <a:srgbClr val="E2A72E"/>
                </a:solidFill>
                <a:latin typeface="+mn-lt"/>
              </a:rPr>
              <a:t>→</a:t>
            </a:r>
          </a:p>
        </p:txBody>
      </p:sp>
      <p:sp>
        <p:nvSpPr>
          <p:cNvPr id="39" name="chip"/>
          <p:cNvSpPr/>
          <p:nvPr/>
        </p:nvSpPr>
        <p:spPr>
          <a:xfrm>
            <a:off x="9692636" y="4114800"/>
            <a:ext cx="1874519" cy="91440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Downstream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API → Pricing Hub</a:t>
            </a:r>
          </a:p>
        </p:txBody>
      </p:sp>
      <p:sp>
        <p:nvSpPr>
          <p:cNvPr id="45" name="note"/>
          <p:cNvSpPr/>
          <p:nvPr/>
        </p:nvSpPr>
        <p:spPr>
          <a:xfrm>
            <a:off x="658368" y="5349240"/>
            <a:ext cx="10424160" cy="548640"/>
          </a:xfrm>
          <a:prstGeom prst="roundRect">
            <a:avLst/>
          </a:prstGeom>
          <a:solidFill>
            <a:srgbClr val="2B2718"/>
          </a:solidFill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Edits, submit and approval are instant Lakebase writes. Only </a:t>
            </a:r>
            <a:r>
              <a:rPr lang="en-US" sz="1250" b="1" dirty="0">
                <a:solidFill>
                  <a:srgbClr val="E2A72E"/>
                </a:solidFill>
                <a:latin typeface="+mn-lt"/>
              </a:rPr>
              <a:t>Sync to UC</a:t>
            </a:r>
            <a:r>
              <a:rPr lang="en-US" sz="1250" dirty="0">
                <a:solidFill>
                  <a:srgbClr val="B9B199"/>
                </a:solidFill>
                <a:latin typeface="+mn-lt"/>
              </a:rPr>
              <a:t> touches the warehouse — one deliberate, batched write.</a:t>
            </a:r>
          </a:p>
        </p:txBody>
      </p:sp>
      <p:sp>
        <p:nvSpPr>
          <p:cNvPr id="46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47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48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49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ARCHITECTURE</a:t>
            </a:r>
          </a:p>
        </p:txBody>
      </p:sp>
      <p:sp>
        <p:nvSpPr>
          <p:cNvPr id="50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One governed lakehouse, two speeds of storage</a:t>
            </a:r>
          </a:p>
        </p:txBody>
      </p:sp>
      <p:sp>
        <p:nvSpPr>
          <p:cNvPr id="51" name="lay"/>
          <p:cNvSpPr/>
          <p:nvPr/>
        </p:nvSpPr>
        <p:spPr>
          <a:xfrm>
            <a:off x="603504" y="2148840"/>
            <a:ext cx="10881360" cy="841248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050" b="1" spc="150" dirty="0">
                <a:solidFill>
                  <a:srgbClr val="857D66"/>
                </a:solidFill>
                <a:latin typeface="+mn-lt"/>
              </a:rPr>
              <a:t>FRONT END   </a:t>
            </a:r>
            <a:r>
              <a:rPr lang="en-US" sz="1700" b="1" dirty="0">
                <a:solidFill>
                  <a:srgbClr val="E2A72E"/>
                </a:solidFill>
                <a:latin typeface="+mn-lt"/>
              </a:rPr>
              <a:t>Databricks App</a:t>
            </a:r>
          </a:p>
          <a:p>
            <a:pPr algn="l" lvl="0" marL="0" indent="0">
              <a:spcBef>
                <a:spcPts val="200"/>
              </a:spcBef>
              <a:buClr>
                <a:srgbClr val="E2A72E"/>
              </a:buClr>
              <a:buSzPct val="90000"/>
              <a:buNone/>
            </a:pPr>
            <a:r>
              <a:rPr lang="en-US" sz="1200" dirty="0">
                <a:solidFill>
                  <a:srgbClr val="B9B199"/>
                </a:solidFill>
                <a:latin typeface="+mn-lt"/>
              </a:rPr>
              <a:t>React 19 + TypeScript + Tailwind, served by FastAPI</a:t>
            </a:r>
          </a:p>
        </p:txBody>
      </p:sp>
      <p:sp>
        <p:nvSpPr>
          <p:cNvPr id="52" name="lay"/>
          <p:cNvSpPr/>
          <p:nvPr/>
        </p:nvSpPr>
        <p:spPr>
          <a:xfrm>
            <a:off x="603504" y="3118104"/>
            <a:ext cx="10881360" cy="841248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050" b="1" spc="150" dirty="0">
                <a:solidFill>
                  <a:srgbClr val="857D66"/>
                </a:solidFill>
                <a:latin typeface="+mn-lt"/>
              </a:rPr>
              <a:t>EDIT SANDBOX   </a:t>
            </a:r>
            <a:r>
              <a:rPr lang="en-US" sz="1700" b="1" dirty="0">
                <a:solidFill>
                  <a:srgbClr val="E2A72E"/>
                </a:solidFill>
                <a:latin typeface="+mn-lt"/>
              </a:rPr>
              <a:t>Lakebase (Postgres)</a:t>
            </a:r>
          </a:p>
          <a:p>
            <a:pPr algn="l" lvl="0" marL="0" indent="0">
              <a:spcBef>
                <a:spcPts val="200"/>
              </a:spcBef>
              <a:buClr>
                <a:srgbClr val="E2A72E"/>
              </a:buClr>
              <a:buSzPct val="90000"/>
              <a:buNone/>
            </a:pPr>
            <a:r>
              <a:rPr lang="en-US" sz="1200" dirty="0">
                <a:solidFill>
                  <a:srgbClr val="B9B199"/>
                </a:solidFill>
                <a:latin typeface="+mn-lt"/>
              </a:rPr>
              <a:t>Every edit / review / approval — instant, multi-user</a:t>
            </a:r>
          </a:p>
        </p:txBody>
      </p:sp>
      <p:sp>
        <p:nvSpPr>
          <p:cNvPr id="53" name="lay"/>
          <p:cNvSpPr/>
          <p:nvPr/>
        </p:nvSpPr>
        <p:spPr>
          <a:xfrm>
            <a:off x="603504" y="4087368"/>
            <a:ext cx="10881360" cy="841248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050" b="1" spc="150" dirty="0">
                <a:solidFill>
                  <a:srgbClr val="857D66"/>
                </a:solidFill>
                <a:latin typeface="+mn-lt"/>
              </a:rPr>
              <a:t>COMPUTE   </a:t>
            </a:r>
            <a:r>
              <a:rPr lang="en-US" sz="1700" b="1" dirty="0">
                <a:solidFill>
                  <a:srgbClr val="B9B199"/>
                </a:solidFill>
                <a:latin typeface="+mn-lt"/>
              </a:rPr>
              <a:t>Serverless SQL Warehouse</a:t>
            </a:r>
          </a:p>
          <a:p>
            <a:pPr algn="l" lvl="0" marL="0" indent="0">
              <a:spcBef>
                <a:spcPts val="200"/>
              </a:spcBef>
              <a:buClr>
                <a:srgbClr val="E2A72E"/>
              </a:buClr>
              <a:buSzPct val="90000"/>
              <a:buNone/>
            </a:pPr>
            <a:r>
              <a:rPr lang="en-US" sz="1200" dirty="0">
                <a:solidFill>
                  <a:srgbClr val="B9B199"/>
                </a:solidFill>
                <a:latin typeface="+mn-lt"/>
              </a:rPr>
              <a:t>Windowed grid reads + the batched Sync-to-UC write</a:t>
            </a:r>
          </a:p>
        </p:txBody>
      </p:sp>
      <p:sp>
        <p:nvSpPr>
          <p:cNvPr id="54" name="lay"/>
          <p:cNvSpPr/>
          <p:nvPr/>
        </p:nvSpPr>
        <p:spPr>
          <a:xfrm>
            <a:off x="603504" y="5056632"/>
            <a:ext cx="10881360" cy="841248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050" b="1" spc="150" dirty="0">
                <a:solidFill>
                  <a:srgbClr val="857D66"/>
                </a:solidFill>
                <a:latin typeface="+mn-lt"/>
              </a:rPr>
              <a:t>SOURCE OF TRUTH   </a:t>
            </a:r>
            <a:r>
              <a:rPr lang="en-US" sz="1700" b="1" dirty="0">
                <a:solidFill>
                  <a:srgbClr val="4ADE80"/>
                </a:solidFill>
                <a:latin typeface="+mn-lt"/>
              </a:rPr>
              <a:t>Unity Catalog (Delta)</a:t>
            </a:r>
          </a:p>
          <a:p>
            <a:pPr algn="l" lvl="0" marL="0" indent="0">
              <a:spcBef>
                <a:spcPts val="200"/>
              </a:spcBef>
              <a:buClr>
                <a:srgbClr val="E2A72E"/>
              </a:buClr>
              <a:buSzPct val="90000"/>
              <a:buNone/>
            </a:pPr>
            <a:r>
              <a:rPr lang="en-US" sz="1200" dirty="0">
                <a:solidFill>
                  <a:srgbClr val="B9B199"/>
                </a:solidFill>
                <a:latin typeface="+mn-lt"/>
              </a:rPr>
              <a:t>Governed pricing tables + semantics + lineage</a:t>
            </a:r>
          </a:p>
        </p:txBody>
      </p:sp>
      <p:sp>
        <p:nvSpPr>
          <p:cNvPr id="55" name="flow"/>
          <p:cNvSpPr/>
          <p:nvPr/>
        </p:nvSpPr>
        <p:spPr>
          <a:xfrm>
            <a:off x="603504" y="598932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100" dirty="0">
                <a:solidFill>
                  <a:srgbClr val="857D66"/>
                </a:solidFill>
                <a:latin typeface="+mn-lt"/>
              </a:rPr>
              <a:t>Lakeflow ingest  →  Unity Catalog (govern)  →  App reads/edits via Lakebase  →  Sync to UC  →  Genie / downstream API</a:t>
            </a:r>
          </a:p>
        </p:txBody>
      </p:sp>
      <p:sp>
        <p:nvSpPr>
          <p:cNvPr id="56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57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58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59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DATABRICKS APPS</a:t>
            </a:r>
          </a:p>
        </p:txBody>
      </p:sp>
      <p:sp>
        <p:nvSpPr>
          <p:cNvPr id="60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Secure, managed web apps next to your data</a:t>
            </a:r>
          </a:p>
        </p:txBody>
      </p:sp>
      <p:sp>
        <p:nvSpPr>
          <p:cNvPr id="61" name="card"/>
          <p:cNvSpPr/>
          <p:nvPr/>
        </p:nvSpPr>
        <p:spPr>
          <a:xfrm>
            <a:off x="603504" y="2148840"/>
            <a:ext cx="5303520" cy="361188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What it is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Host full-stack web apps directly in the workspace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Runs your code (FastAPI + React) on managed compute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OAuth built in — users sign in with their workspace identity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On-behalf-of-user or service-principal data access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Scales down to zero when idle — no always-on cost</a:t>
            </a:r>
          </a:p>
        </p:txBody>
      </p:sp>
      <p:sp>
        <p:nvSpPr>
          <p:cNvPr id="62" name="card"/>
          <p:cNvSpPr/>
          <p:nvPr/>
        </p:nvSpPr>
        <p:spPr>
          <a:xfrm>
            <a:off x="6035040" y="2148840"/>
            <a:ext cx="4800600" cy="361188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Why it fits Promo 1YP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No separate app infra to provision or secure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Governed access to Unity Catalog + Lakebase in-platform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Ships with the data — one deploy, one permission model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Idle auto-stop suits a 6-week/year planning cycle</a:t>
            </a:r>
          </a:p>
        </p:txBody>
      </p:sp>
      <p:sp>
        <p:nvSpPr>
          <p:cNvPr id="63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64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65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66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LAKEBASE</a:t>
            </a:r>
          </a:p>
        </p:txBody>
      </p:sp>
      <p:sp>
        <p:nvSpPr>
          <p:cNvPr id="67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A managed Postgres OLTP database in the lakehouse</a:t>
            </a:r>
          </a:p>
        </p:txBody>
      </p:sp>
      <p:sp>
        <p:nvSpPr>
          <p:cNvPr id="68" name="card"/>
          <p:cNvSpPr/>
          <p:nvPr/>
        </p:nvSpPr>
        <p:spPr>
          <a:xfrm>
            <a:off x="603504" y="2148840"/>
            <a:ext cx="5303520" cy="361188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What it is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Fully-managed Postgres (transactional / OLTP)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Millisecond reads &amp; writes — built for app state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Separated storage &amp; compute; scales independently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Integrated with Unity Catalog governance &amp; identity</a:t>
            </a:r>
          </a:p>
        </p:txBody>
      </p:sp>
      <p:sp>
        <p:nvSpPr>
          <p:cNvPr id="69" name="card"/>
          <p:cNvSpPr/>
          <p:nvPr/>
        </p:nvSpPr>
        <p:spPr>
          <a:xfrm>
            <a:off x="6035040" y="2148840"/>
            <a:ext cx="4800600" cy="361188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How Promo 1YP uses it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plan_edit — in-progress edits (draft/pending/approved)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plan_review — coordinator sign-off flags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plan_activity + plan_sync_log — audit &amp; sync trail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uc_promo_week_mirror — fast local copy of UC rows</a:t>
            </a:r>
          </a:p>
        </p:txBody>
      </p:sp>
      <p:sp>
        <p:nvSpPr>
          <p:cNvPr id="70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71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72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73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LAKEBASE-FIRST</a:t>
            </a:r>
          </a:p>
        </p:txBody>
      </p:sp>
      <p:sp>
        <p:nvSpPr>
          <p:cNvPr id="74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Instant editing, one deliberate warehouse write</a:t>
            </a:r>
          </a:p>
        </p:txBody>
      </p:sp>
      <p:sp>
        <p:nvSpPr>
          <p:cNvPr id="75" name="chip"/>
          <p:cNvSpPr/>
          <p:nvPr/>
        </p:nvSpPr>
        <p:spPr>
          <a:xfrm>
            <a:off x="822960" y="2286000"/>
            <a:ext cx="301752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~15 ms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Submit for Review
(Lakebase status flip)</a:t>
            </a:r>
          </a:p>
        </p:txBody>
      </p:sp>
      <p:sp>
        <p:nvSpPr>
          <p:cNvPr id="76" name="chip"/>
          <p:cNvSpPr/>
          <p:nvPr/>
        </p:nvSpPr>
        <p:spPr>
          <a:xfrm>
            <a:off x="4114800" y="2286000"/>
            <a:ext cx="301752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~13 ms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Final Submission
(approve in Lakebase)</a:t>
            </a:r>
          </a:p>
        </p:txBody>
      </p:sp>
      <p:sp>
        <p:nvSpPr>
          <p:cNvPr id="77" name="chip"/>
          <p:cNvSpPr/>
          <p:nvPr/>
        </p:nvSpPr>
        <p:spPr>
          <a:xfrm>
            <a:off x="7406640" y="2286000"/>
            <a:ext cx="3017520" cy="914400"/>
          </a:xfrm>
          <a:prstGeom prst="roundRect">
            <a:avLst/>
          </a:prstGeom>
          <a:solidFill>
            <a:srgbClr val="2B2718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~2.4 s</a:t>
            </a:r>
          </a:p>
          <a:p>
            <a:pPr algn="ctr" lvl="0" marL="0" indent="0">
              <a:spcBef>
                <a:spcPts val="300"/>
              </a:spcBef>
              <a:buClr>
                <a:srgbClr val="E2A72E"/>
              </a:buClr>
              <a:buSzPct val="90000"/>
              <a:buNone/>
            </a:pPr>
            <a:r>
              <a:rPr lang="en-US" sz="1050" dirty="0">
                <a:solidFill>
                  <a:srgbClr val="B9B199"/>
                </a:solidFill>
                <a:latin typeface="+mn-lt"/>
              </a:rPr>
              <a:t>Sync to UC
(batched governed write)</a:t>
            </a:r>
          </a:p>
        </p:txBody>
      </p:sp>
      <p:sp>
        <p:nvSpPr>
          <p:cNvPr id="78" name="explain"/>
          <p:cNvSpPr/>
          <p:nvPr/>
        </p:nvSpPr>
        <p:spPr>
          <a:xfrm>
            <a:off x="603504" y="3703320"/>
            <a:ext cx="10881360" cy="201168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Why it feels instant</a:t>
            </a:r>
          </a:p>
          <a:p>
            <a:pPr algn="l" lvl="0" marL="274320" indent="-274320">
              <a:spcBef>
                <a:spcPts val="520"/>
              </a:spcBef>
              <a:buClr>
                <a:srgbClr val="E2A72E"/>
              </a:buClr>
              <a:buSzPct val="90000"/>
              <a:buChar char="▸"/>
            </a:pPr>
            <a:r>
              <a:rPr lang="en-US" sz="1300" dirty="0">
                <a:solidFill>
                  <a:srgbClr val="B9B199"/>
                </a:solidFill>
                <a:latin typeface="+mn-lt"/>
              </a:rPr>
              <a:t>Every edit, submit and approval writes only to Lakebase — the slow warehouse round-trip is off the interactive path.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300" dirty="0">
                <a:solidFill>
                  <a:srgbClr val="B9B199"/>
                </a:solidFill>
                <a:latin typeface="+mn-lt"/>
              </a:rPr>
              <a:t>The governed Unity Catalog table is updated by a separate, batched “Sync to UC” step — the one warehouse write, on the user’s command.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300" dirty="0">
                <a:solidFill>
                  <a:srgbClr val="B9B199"/>
                </a:solidFill>
                <a:latin typeface="+mn-lt"/>
              </a:rPr>
              <a:t>Both sync directions are logged and shown live in the app, so the round-trip is visible and auditable.</a:t>
            </a:r>
          </a:p>
        </p:txBody>
      </p:sp>
      <p:sp>
        <p:nvSpPr>
          <p:cNvPr id="79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80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0F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81" name="bar"/>
          <p:cNvSpPr/>
          <p:nvPr/>
        </p:nvSpPr>
        <p:spPr>
          <a:xfrm>
            <a:off x="640080" y="502920"/>
            <a:ext cx="822960" cy="100584"/>
          </a:xfrm>
          <a:prstGeom prst="rect">
            <a:avLst/>
          </a:prstGeom>
          <a:solidFill>
            <a:srgbClr val="E2A72E"/>
          </a:solidFill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endParaRPr/>
          </a:p>
        </p:txBody>
      </p:sp>
      <p:sp>
        <p:nvSpPr>
          <p:cNvPr id="82" name="kicker"/>
          <p:cNvSpPr/>
          <p:nvPr/>
        </p:nvSpPr>
        <p:spPr>
          <a:xfrm>
            <a:off x="603504" y="65836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200" b="1" spc="220" dirty="0">
                <a:solidFill>
                  <a:srgbClr val="E2A72E"/>
                </a:solidFill>
                <a:latin typeface="+mn-lt"/>
              </a:rPr>
              <a:t>SUMMARY</a:t>
            </a:r>
          </a:p>
        </p:txBody>
      </p:sp>
      <p:sp>
        <p:nvSpPr>
          <p:cNvPr id="83" name="title"/>
          <p:cNvSpPr/>
          <p:nvPr/>
        </p:nvSpPr>
        <p:spPr>
          <a:xfrm>
            <a:off x="603504" y="9601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3200" b="1" dirty="0">
                <a:solidFill>
                  <a:srgbClr val="F7F2E7"/>
                </a:solidFill>
                <a:latin typeface="+mn-lt"/>
              </a:rPr>
              <a:t>Promote with purpose — at lakehouse speed</a:t>
            </a:r>
          </a:p>
        </p:txBody>
      </p:sp>
      <p:sp>
        <p:nvSpPr>
          <p:cNvPr id="84" name="card"/>
          <p:cNvSpPr/>
          <p:nvPr/>
        </p:nvSpPr>
        <p:spPr>
          <a:xfrm>
            <a:off x="603504" y="2148840"/>
            <a:ext cx="3383280" cy="329184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E2A72E"/>
                </a:solidFill>
                <a:latin typeface="+mn-lt"/>
              </a:rPr>
              <a:t>Fast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Instant edits &amp; approvals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Virtualized grid at scale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Scales to zero when idle</a:t>
            </a:r>
          </a:p>
        </p:txBody>
      </p:sp>
      <p:sp>
        <p:nvSpPr>
          <p:cNvPr id="85" name="card"/>
          <p:cNvSpPr/>
          <p:nvPr/>
        </p:nvSpPr>
        <p:spPr>
          <a:xfrm>
            <a:off x="4114800" y="2148840"/>
            <a:ext cx="3383280" cy="329184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4ADE80"/>
                </a:solidFill>
                <a:latin typeface="+mn-lt"/>
              </a:rPr>
              <a:t>Governed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Unity Catalog source of truth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Full audit + sync trail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CSO approval before downstream</a:t>
            </a:r>
          </a:p>
        </p:txBody>
      </p:sp>
      <p:sp>
        <p:nvSpPr>
          <p:cNvPr id="86" name="card"/>
          <p:cNvSpPr/>
          <p:nvPr/>
        </p:nvSpPr>
        <p:spPr>
          <a:xfrm>
            <a:off x="7626096" y="2148840"/>
            <a:ext cx="3200400" cy="3291840"/>
          </a:xfrm>
          <a:prstGeom prst="roundRect">
            <a:avLst/>
          </a:prstGeom>
          <a:solidFill>
            <a:srgbClr val="201D15"/>
          </a:solidFill>
          <a:ln w="12700">
            <a:solidFill>
              <a:srgbClr val="3A3527"/>
            </a:solidFill>
          </a:ln>
          <a:effectLst>
            <a:outerShdw blurRad="90000" dist="40000" dir="5400000" rotWithShape="0">
              <a:srgbClr val="000000">
                <a:alpha val="42000"/>
              </a:srgbClr>
            </a:outerShdw>
          </a:effectLst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500" b="1" dirty="0">
                <a:solidFill>
                  <a:srgbClr val="C8102E"/>
                </a:solidFill>
                <a:latin typeface="+mn-lt"/>
              </a:rPr>
              <a:t>In-platform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One deploy, one identity model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Lakebase + UC + Apps together</a:t>
            </a:r>
          </a:p>
          <a:p>
            <a:pPr algn="l" lvl="0" marL="274320" indent="-274320">
              <a:spcBef>
                <a:spcPts val="460"/>
              </a:spcBef>
              <a:buClr>
                <a:srgbClr val="E2A72E"/>
              </a:buClr>
              <a:buSzPct val="90000"/>
              <a:buChar char="▸"/>
            </a:pPr>
            <a:r>
              <a:rPr lang="en-US" sz="1250" dirty="0">
                <a:solidFill>
                  <a:srgbClr val="B9B199"/>
                </a:solidFill>
                <a:latin typeface="+mn-lt"/>
              </a:rPr>
              <a:t>API hand-off to Pricing Hub</a:t>
            </a:r>
          </a:p>
        </p:txBody>
      </p:sp>
      <p:sp>
        <p:nvSpPr>
          <p:cNvPr id="87" name="cta"/>
          <p:cNvSpPr/>
          <p:nvPr/>
        </p:nvSpPr>
        <p:spPr>
          <a:xfrm>
            <a:off x="603504" y="5623560"/>
            <a:ext cx="10881360" cy="502920"/>
          </a:xfrm>
          <a:prstGeom prst="roundRect">
            <a:avLst/>
          </a:prstGeom>
          <a:solidFill>
            <a:srgbClr val="E2A72E"/>
          </a:solidFill>
          <a:ln>
            <a:noFill/>
          </a:ln>
        </p:spPr>
        <p:txBody>
          <a:bodyPr wrap="square" anchor="ctr" lIns="128016" rIns="128016" tIns="73152" bIns="73152">
            <a:normAutofit/>
          </a:bodyPr>
          <a:lstStyle/>
          <a:p>
            <a:pPr algn="ct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1400" b="1" dirty="0">
                <a:solidFill>
                  <a:srgbClr val="17150F"/>
                </a:solidFill>
                <a:latin typeface="+mn-lt"/>
              </a:rPr>
              <a:t>Replace the slow tools — plan wholesale pricing where the data already lives.</a:t>
            </a:r>
          </a:p>
        </p:txBody>
      </p:sp>
      <p:sp>
        <p:nvSpPr>
          <p:cNvPr id="88" name="fl"/>
          <p:cNvSpPr/>
          <p:nvPr/>
        </p:nvSpPr>
        <p:spPr>
          <a:xfrm>
            <a:off x="603504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l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Promo 1YP · Wholesale Pricing Planner</a:t>
            </a:r>
          </a:p>
        </p:txBody>
      </p:sp>
      <p:sp>
        <p:nvSpPr>
          <p:cNvPr id="89" name="fr"/>
          <p:cNvSpPr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28016" rIns="128016" tIns="73152" bIns="73152">
            <a:normAutofit/>
          </a:bodyPr>
          <a:lstStyle/>
          <a:p>
            <a:pPr algn="r" lvl="0" marL="0" indent="0">
              <a:spcBef>
                <a:spcPts val="600"/>
              </a:spcBef>
              <a:buClr>
                <a:srgbClr val="E2A72E"/>
              </a:buClr>
              <a:buSzPct val="90000"/>
              <a:buNone/>
            </a:pPr>
            <a:r>
              <a:rPr lang="en-US" sz="900" dirty="0">
                <a:solidFill>
                  <a:srgbClr val="857D66"/>
                </a:solidFill>
                <a:latin typeface="+mn-lt"/>
              </a:rPr>
              <a:t>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mo1YP">
  <a:themeElements>
    <a:clrScheme name="Promo1YP">
      <a:dk1>
        <a:srgbClr val="F7F2E7"/>
      </a:dk1>
      <a:lt1>
        <a:srgbClr val="17150F"/>
      </a:lt1>
      <a:dk2>
        <a:srgbClr val="B9B199"/>
      </a:dk2>
      <a:lt2>
        <a:srgbClr val="201D15"/>
      </a:lt2>
      <a:accent1>
        <a:srgbClr val="E2A72E"/>
      </a:accent1>
      <a:accent2>
        <a:srgbClr val="C8102E"/>
      </a:accent2>
      <a:accent3>
        <a:srgbClr val="4ADE80"/>
      </a:accent3>
      <a:accent4>
        <a:srgbClr val="B8860B"/>
      </a:accent4>
      <a:accent5>
        <a:srgbClr val="CBB88A"/>
      </a:accent5>
      <a:accent6>
        <a:srgbClr val="8A1220"/>
      </a:accent6>
      <a:hlink>
        <a:srgbClr val="E2A72E"/>
      </a:hlink>
      <a:folHlink>
        <a:srgbClr val="B8860B"/>
      </a:folHlink>
    </a:clrScheme>
    <a:fontScheme name="Promo1YP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Promo1Y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